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3"/>
  </p:notesMasterIdLst>
  <p:sldIdLst>
    <p:sldId id="1298" r:id="rId2"/>
    <p:sldId id="1302" r:id="rId3"/>
    <p:sldId id="1303" r:id="rId4"/>
    <p:sldId id="1304" r:id="rId5"/>
    <p:sldId id="1307" r:id="rId6"/>
    <p:sldId id="1311" r:id="rId7"/>
    <p:sldId id="1306" r:id="rId8"/>
    <p:sldId id="1308" r:id="rId9"/>
    <p:sldId id="267" r:id="rId10"/>
    <p:sldId id="1310" r:id="rId11"/>
    <p:sldId id="271" r:id="rId12"/>
  </p:sldIdLst>
  <p:sldSz cx="12192000" cy="6858000"/>
  <p:notesSz cx="12192000" cy="6858000"/>
  <p:custDataLst>
    <p:tags r:id="rId14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 kumar" userId="3fa393a42ffc24cb" providerId="LiveId" clId="{D175AD86-D664-4EB4-985B-ED4044161AE2}"/>
    <pc:docChg chg="custSel modSld">
      <pc:chgData name="sravan kumar" userId="3fa393a42ffc24cb" providerId="LiveId" clId="{D175AD86-D664-4EB4-985B-ED4044161AE2}" dt="2026-02-19T08:01:42.058" v="55" actId="478"/>
      <pc:docMkLst>
        <pc:docMk/>
      </pc:docMkLst>
      <pc:sldChg chg="delSp modSp mod">
        <pc:chgData name="sravan kumar" userId="3fa393a42ffc24cb" providerId="LiveId" clId="{D175AD86-D664-4EB4-985B-ED4044161AE2}" dt="2026-02-19T08:01:37.385" v="54" actId="478"/>
        <pc:sldMkLst>
          <pc:docMk/>
          <pc:sldMk cId="0" sldId="267"/>
        </pc:sldMkLst>
        <pc:spChg chg="del mod">
          <ac:chgData name="sravan kumar" userId="3fa393a42ffc24cb" providerId="LiveId" clId="{D175AD86-D664-4EB4-985B-ED4044161AE2}" dt="2026-02-19T08:01:37.385" v="54" actId="478"/>
          <ac:spMkLst>
            <pc:docMk/>
            <pc:sldMk cId="0" sldId="267"/>
            <ac:spMk id="9" creationId="{7357E5D4-E88F-37E5-74E7-633F944B11CE}"/>
          </ac:spMkLst>
        </pc:spChg>
      </pc:sldChg>
      <pc:sldChg chg="modSp mod">
        <pc:chgData name="sravan kumar" userId="3fa393a42ffc24cb" providerId="LiveId" clId="{D175AD86-D664-4EB4-985B-ED4044161AE2}" dt="2026-02-19T08:00:53.795" v="44" actId="20577"/>
        <pc:sldMkLst>
          <pc:docMk/>
          <pc:sldMk cId="946846088" sldId="1298"/>
        </pc:sldMkLst>
        <pc:spChg chg="mod">
          <ac:chgData name="sravan kumar" userId="3fa393a42ffc24cb" providerId="LiveId" clId="{D175AD86-D664-4EB4-985B-ED4044161AE2}" dt="2026-02-19T08:00:46.747" v="30" actId="20577"/>
          <ac:spMkLst>
            <pc:docMk/>
            <pc:sldMk cId="946846088" sldId="1298"/>
            <ac:spMk id="3" creationId="{6A8BFA17-ACF5-21DA-81BC-A9A793A30FE6}"/>
          </ac:spMkLst>
        </pc:spChg>
        <pc:spChg chg="mod">
          <ac:chgData name="sravan kumar" userId="3fa393a42ffc24cb" providerId="LiveId" clId="{D175AD86-D664-4EB4-985B-ED4044161AE2}" dt="2026-02-19T08:00:53.795" v="44" actId="20577"/>
          <ac:spMkLst>
            <pc:docMk/>
            <pc:sldMk cId="946846088" sldId="1298"/>
            <ac:spMk id="6" creationId="{33B282E5-EFA4-B42A-3002-A121095746EB}"/>
          </ac:spMkLst>
        </pc:spChg>
        <pc:spChg chg="mod">
          <ac:chgData name="sravan kumar" userId="3fa393a42ffc24cb" providerId="LiveId" clId="{D175AD86-D664-4EB4-985B-ED4044161AE2}" dt="2026-02-19T08:00:37.726" v="17" actId="20577"/>
          <ac:spMkLst>
            <pc:docMk/>
            <pc:sldMk cId="946846088" sldId="1298"/>
            <ac:spMk id="13" creationId="{00000000-0000-0000-0000-000000000000}"/>
          </ac:spMkLst>
        </pc:spChg>
      </pc:sldChg>
      <pc:sldChg chg="delSp modSp mod">
        <pc:chgData name="sravan kumar" userId="3fa393a42ffc24cb" providerId="LiveId" clId="{D175AD86-D664-4EB4-985B-ED4044161AE2}" dt="2026-02-19T08:01:03.883" v="46" actId="478"/>
        <pc:sldMkLst>
          <pc:docMk/>
          <pc:sldMk cId="817590762" sldId="1303"/>
        </pc:sldMkLst>
        <pc:spChg chg="del mod">
          <ac:chgData name="sravan kumar" userId="3fa393a42ffc24cb" providerId="LiveId" clId="{D175AD86-D664-4EB4-985B-ED4044161AE2}" dt="2026-02-19T08:01:03.883" v="46" actId="478"/>
          <ac:spMkLst>
            <pc:docMk/>
            <pc:sldMk cId="817590762" sldId="1303"/>
            <ac:spMk id="2" creationId="{F66CEC1E-D414-60D6-7258-4ACDA0654F65}"/>
          </ac:spMkLst>
        </pc:spChg>
      </pc:sldChg>
      <pc:sldChg chg="delSp mod">
        <pc:chgData name="sravan kumar" userId="3fa393a42ffc24cb" providerId="LiveId" clId="{D175AD86-D664-4EB4-985B-ED4044161AE2}" dt="2026-02-19T08:01:10.391" v="47" actId="478"/>
        <pc:sldMkLst>
          <pc:docMk/>
          <pc:sldMk cId="2719174597" sldId="1304"/>
        </pc:sldMkLst>
        <pc:spChg chg="del">
          <ac:chgData name="sravan kumar" userId="3fa393a42ffc24cb" providerId="LiveId" clId="{D175AD86-D664-4EB4-985B-ED4044161AE2}" dt="2026-02-19T08:01:10.391" v="47" actId="478"/>
          <ac:spMkLst>
            <pc:docMk/>
            <pc:sldMk cId="2719174597" sldId="1304"/>
            <ac:spMk id="2" creationId="{B07E3F00-B8A1-E3E6-46F3-9CBDC445523A}"/>
          </ac:spMkLst>
        </pc:spChg>
      </pc:sldChg>
      <pc:sldChg chg="delSp mod">
        <pc:chgData name="sravan kumar" userId="3fa393a42ffc24cb" providerId="LiveId" clId="{D175AD86-D664-4EB4-985B-ED4044161AE2}" dt="2026-02-19T08:01:24.225" v="50" actId="478"/>
        <pc:sldMkLst>
          <pc:docMk/>
          <pc:sldMk cId="3778321862" sldId="1306"/>
        </pc:sldMkLst>
        <pc:picChg chg="del">
          <ac:chgData name="sravan kumar" userId="3fa393a42ffc24cb" providerId="LiveId" clId="{D175AD86-D664-4EB4-985B-ED4044161AE2}" dt="2026-02-19T08:01:24.225" v="50" actId="478"/>
          <ac:picMkLst>
            <pc:docMk/>
            <pc:sldMk cId="3778321862" sldId="1306"/>
            <ac:picMk id="5" creationId="{00000000-0000-0000-0000-000000000000}"/>
          </ac:picMkLst>
        </pc:picChg>
      </pc:sldChg>
      <pc:sldChg chg="delSp mod">
        <pc:chgData name="sravan kumar" userId="3fa393a42ffc24cb" providerId="LiveId" clId="{D175AD86-D664-4EB4-985B-ED4044161AE2}" dt="2026-02-19T08:01:14.894" v="48" actId="478"/>
        <pc:sldMkLst>
          <pc:docMk/>
          <pc:sldMk cId="3912515651" sldId="1307"/>
        </pc:sldMkLst>
        <pc:spChg chg="del">
          <ac:chgData name="sravan kumar" userId="3fa393a42ffc24cb" providerId="LiveId" clId="{D175AD86-D664-4EB4-985B-ED4044161AE2}" dt="2026-02-19T08:01:14.894" v="48" actId="478"/>
          <ac:spMkLst>
            <pc:docMk/>
            <pc:sldMk cId="3912515651" sldId="1307"/>
            <ac:spMk id="2" creationId="{6938976A-48BF-02EA-7BFA-5075C8725DD1}"/>
          </ac:spMkLst>
        </pc:spChg>
      </pc:sldChg>
      <pc:sldChg chg="delSp mod">
        <pc:chgData name="sravan kumar" userId="3fa393a42ffc24cb" providerId="LiveId" clId="{D175AD86-D664-4EB4-985B-ED4044161AE2}" dt="2026-02-19T08:01:30.521" v="52" actId="478"/>
        <pc:sldMkLst>
          <pc:docMk/>
          <pc:sldMk cId="2515693582" sldId="1308"/>
        </pc:sldMkLst>
        <pc:picChg chg="del">
          <ac:chgData name="sravan kumar" userId="3fa393a42ffc24cb" providerId="LiveId" clId="{D175AD86-D664-4EB4-985B-ED4044161AE2}" dt="2026-02-19T08:01:28.611" v="51" actId="478"/>
          <ac:picMkLst>
            <pc:docMk/>
            <pc:sldMk cId="2515693582" sldId="1308"/>
            <ac:picMk id="5" creationId="{00000000-0000-0000-0000-000000000000}"/>
          </ac:picMkLst>
        </pc:picChg>
        <pc:picChg chg="del">
          <ac:chgData name="sravan kumar" userId="3fa393a42ffc24cb" providerId="LiveId" clId="{D175AD86-D664-4EB4-985B-ED4044161AE2}" dt="2026-02-19T08:01:30.521" v="52" actId="478"/>
          <ac:picMkLst>
            <pc:docMk/>
            <pc:sldMk cId="2515693582" sldId="1308"/>
            <ac:picMk id="6" creationId="{00000000-0000-0000-0000-000000000000}"/>
          </ac:picMkLst>
        </pc:picChg>
      </pc:sldChg>
      <pc:sldChg chg="delSp mod">
        <pc:chgData name="sravan kumar" userId="3fa393a42ffc24cb" providerId="LiveId" clId="{D175AD86-D664-4EB4-985B-ED4044161AE2}" dt="2026-02-19T08:01:42.058" v="55" actId="478"/>
        <pc:sldMkLst>
          <pc:docMk/>
          <pc:sldMk cId="3672943248" sldId="1310"/>
        </pc:sldMkLst>
        <pc:spChg chg="del">
          <ac:chgData name="sravan kumar" userId="3fa393a42ffc24cb" providerId="LiveId" clId="{D175AD86-D664-4EB4-985B-ED4044161AE2}" dt="2026-02-19T08:01:42.058" v="55" actId="478"/>
          <ac:spMkLst>
            <pc:docMk/>
            <pc:sldMk cId="3672943248" sldId="1310"/>
            <ac:spMk id="2" creationId="{E60DEBBB-AD2B-766E-32FE-AB5BCF243F01}"/>
          </ac:spMkLst>
        </pc:spChg>
      </pc:sldChg>
      <pc:sldChg chg="delSp mod">
        <pc:chgData name="sravan kumar" userId="3fa393a42ffc24cb" providerId="LiveId" clId="{D175AD86-D664-4EB4-985B-ED4044161AE2}" dt="2026-02-19T08:01:20.281" v="49" actId="478"/>
        <pc:sldMkLst>
          <pc:docMk/>
          <pc:sldMk cId="50864971" sldId="1311"/>
        </pc:sldMkLst>
        <pc:spChg chg="del">
          <ac:chgData name="sravan kumar" userId="3fa393a42ffc24cb" providerId="LiveId" clId="{D175AD86-D664-4EB4-985B-ED4044161AE2}" dt="2026-02-19T08:01:20.281" v="49" actId="478"/>
          <ac:spMkLst>
            <pc:docMk/>
            <pc:sldMk cId="50864971" sldId="1311"/>
            <ac:spMk id="2" creationId="{BD0735C1-3598-53C0-CB0C-6CCC862D16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pPr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Duration: 5 min</a:t>
            </a:r>
            <a:endParaRPr lang="en-US" dirty="0"/>
          </a:p>
          <a:p>
            <a:r>
              <a:rPr lang="en-US" b="1" dirty="0"/>
              <a:t>Objective: To get an insight about Design Thinking</a:t>
            </a:r>
            <a:endParaRPr lang="en-US" dirty="0"/>
          </a:p>
          <a:p>
            <a:r>
              <a:rPr lang="en-US" b="1" dirty="0"/>
              <a:t>Procedure:</a:t>
            </a:r>
            <a:endParaRPr lang="en-US" dirty="0"/>
          </a:p>
          <a:p>
            <a:r>
              <a:rPr lang="en-US" b="1" dirty="0"/>
              <a:t>Explanation:</a:t>
            </a:r>
            <a:endParaRPr lang="en-US" b="1" dirty="0">
              <a:cs typeface="Calibri"/>
            </a:endParaRPr>
          </a:p>
          <a:p>
            <a:r>
              <a:rPr lang="en-US" b="1" dirty="0"/>
              <a:t>Introduce the topic "Design Thinking"</a:t>
            </a:r>
            <a:r>
              <a:rPr lang="en-US" dirty="0"/>
              <a:t> </a:t>
            </a:r>
            <a:endParaRPr lang="en-US" dirty="0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Design thinking is a creative approach to problem-solving that puts people at the center. </a:t>
            </a:r>
            <a:endParaRPr lang="en-US" dirty="0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It's about being open-minded, collaborative, and willing to try new things to come up with innovative solutions that really fit people's needs.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b="1" dirty="0"/>
              <a:t>Learning outcome: Students will be introduced to the topic Design Thinking.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Total duration:</a:t>
            </a:r>
            <a:r>
              <a:rPr lang="en-US" dirty="0"/>
              <a:t> 5mins</a:t>
            </a:r>
          </a:p>
          <a:p>
            <a:r>
              <a:rPr lang="en-US" b="1" dirty="0"/>
              <a:t>Learning Objective:  </a:t>
            </a:r>
            <a:r>
              <a:rPr lang="en-US" dirty="0"/>
              <a:t>In this slide, the trainer will explain the students what they will learn and be able to apply in the real life situations.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Procedure: </a:t>
            </a:r>
            <a:r>
              <a:rPr lang="en-US" dirty="0"/>
              <a:t>Discuss the above as the outcome of the session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b="1" dirty="0"/>
              <a:t>Learning outcome:</a:t>
            </a:r>
            <a:r>
              <a:rPr lang="en-US" dirty="0"/>
              <a:t> Students will understand the</a:t>
            </a:r>
            <a:r>
              <a:rPr lang="en-US" baseline="0" dirty="0"/>
              <a:t> learning </a:t>
            </a:r>
            <a:r>
              <a:rPr lang="en-US" dirty="0"/>
              <a:t>outcome</a:t>
            </a:r>
            <a:r>
              <a:rPr lang="en-US" baseline="0" dirty="0"/>
              <a:t> in this slide.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  <p:pic>
        <p:nvPicPr>
          <p:cNvPr id="2" name="Picture 1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C52E178C-685F-8F57-5EBE-891CADDA36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 flipH="1">
            <a:off x="0" y="6412587"/>
            <a:ext cx="682906" cy="44541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jpe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 showMasterSp="0">
  <p:cSld>
    <p:spTree>
      <p:nvGrpSpPr>
        <p:cNvPr id="1" name="">
          <a:extLst>
            <a:ext uri="{FF2B5EF4-FFF2-40B4-BE49-F238E27FC236}">
              <ns2:creationId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ns2:creationId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4:svgBlip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ns2:creationId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ns2:creationId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ns2:creationId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ns5:useLocalDpi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ns2:creationId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ns2:creationId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ns2:creationId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ns2:creationId id="{6A8BFA17-ACF5-21DA-81BC-A9A793A30FE6}"/>
              </a:ext>
            </a:extLst>
          </p:cNvPr>
          <p:cNvSpPr txBox="1"/>
          <p:nvPr/>
        </p:nvSpPr>
        <p:spPr>
          <a:xfrm>
            <a:off x="7129302" y="2101763"/>
            <a:ext cx="4421469" cy="1037677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r>
              <a:rPr lang="en-US" sz="2400" dirty="0" b="1">
                <a:solidFill>
                  <a:srgbClr val="000000"/>
                </a:solidFill>
              </a:rPr>
              <a:t>EXPENSEMATE AI</a:t>
            </a:r>
            <a:endParaRPr lang="en-US" sz="2400">
              <a:solidFill>
                <a:srgbClr val="000000"/>
              </a:solidFill>
            </a:endParaRPr>
          </a:p>
          <a:p>
            <a:r>
              <a:rPr lang="en-US" sz="2400" dirty="0" b="1">
                <a:solidFill>
                  <a:srgbClr val="000000"/>
                </a:solidFill>
              </a:rPr>
              <a:t>Smart Food, Travel &amp; Expense Recommendation System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ns2:creationId id="{33B282E5-EFA4-B42A-3002-A121095746EB}"/>
              </a:ext>
            </a:extLst>
          </p:cNvPr>
          <p:cNvSpPr txBox="1"/>
          <p:nvPr/>
        </p:nvSpPr>
        <p:spPr>
          <a:xfrm>
            <a:off x="7083194" y="6003786"/>
            <a:ext cx="4699247" cy="58477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dirty="0" b="0">
                <a:solidFill>
                  <a:srgbClr val="002060"/>
                </a:solidFill>
              </a:rPr>
              <a:t>Under the mentorship of,</a:t>
            </a:r>
            <a:endParaRPr lang="en-US" sz="1600">
              <a:solidFill>
                <a:srgbClr val="002060"/>
              </a:solidFill>
            </a:endParaRPr>
          </a:p>
          <a:p>
            <a:r>
              <a:rPr lang="en-US" sz="1600" dirty="0" b="0">
                <a:solidFill>
                  <a:srgbClr val="002060"/>
                </a:solidFill>
              </a:rPr>
              <a:t>Mentor Name: ____________________</a:t>
            </a:r>
            <a:endParaRPr lang="en-US" sz="1600">
              <a:solidFill>
                <a:srgbClr val="00206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ns2:creationId id="{3FF410DA-0B5A-36C0-18E2-926FCDFD4CA7}"/>
              </a:ext>
            </a:extLst>
          </p:cNvPr>
          <p:cNvCxnSpPr/>
          <p:nvPr/>
        </p:nvCxnSpPr>
        <p:spPr>
          <a:xfrm>
            <a:off x="7153154" y="5822066"/>
            <a:ext cx="41437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36823" y="3526971"/>
            <a:ext cx="3605348" cy="369332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dirty="0" b="0">
                <a:solidFill>
                  <a:srgbClr val="002060"/>
                </a:solidFill>
              </a:rPr>
              <a:t>Team ID: ____________________</a:t>
            </a:r>
            <a:endParaRPr lang="en-US" sz="1600">
              <a:solidFill>
                <a:srgbClr val="002060"/>
              </a:solidFill>
            </a:endParaRPr>
          </a:p>
        </p:txBody>
      </p:sp>
      <p:sp>
        <p:nvSpPr>
          <p:cNvPr id="32" name="SubtitleBox"/>
          <p:cNvSpPr txBox="1"/>
          <p:nvPr/>
        </p:nvSpPr>
        <p:spPr>
          <a:xfrm>
            <a:off x="7129302" y="3250000"/>
            <a:ext cx="43000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213163"/>
                </a:solidFill>
              </a:rPr>
              <a:t>Capstone Project Presentation</a:t>
            </a:r>
            <a:endParaRPr lang="en-US" sz="1800">
              <a:solidFill>
                <a:srgbClr val="21316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6:creationId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ns2:creationId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013" y="845438"/>
            <a:ext cx="2960627" cy="659796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Project Objectives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ns2:creationId id="{74BEAD1C-D4EE-217C-7DA3-DC537039DFC5}"/>
              </a:ext>
            </a:extLst>
          </p:cNvPr>
          <p:cNvSpPr txBox="1"/>
          <p:nvPr/>
        </p:nvSpPr>
        <p:spPr>
          <a:xfrm>
            <a:off x="485343" y="1798400"/>
            <a:ext cx="5610657" cy="3693319"/>
          </a:xfrm>
          <a:prstGeom prst="rect">
            <a:avLst/>
          </a:prstGeom>
        </p:spPr>
        <p:txBody>
          <a:bodyPr/>
          <a:lstStyle/>
          <a:p>
            <a:r>
              <a:rPr lang="en-US" sz="1800" dirty="0" b="0">
                <a:solidFill>
                  <a:srgbClr val="000000"/>
                </a:solidFill>
              </a:rPr>
              <a:t>• Build one platform for food, travel, and expense recommendations.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Personalize results using cuisine, dietary needs, budget, and travel interests.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Track expenses and guide users toward budget-friendly trip decisions.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Provide explainable recommendations instead of black-box suggestions.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Deliver the solution through a Python engine, Flask API, and HTML frontend.</a:t>
            </a:r>
            <a:endParaRPr lang="en-US" sz="1800">
              <a:solidFill>
                <a:srgbClr val="000000"/>
              </a:solidFill>
            </a:endParaRPr>
          </a:p>
        </p:txBody>
      </p:sp>
      <p:pic>
        <p:nvPicPr>
          <p:cNvPr id="14" name="Picture 13" descr="A blue arrow hitting a yellow and white target&#10;&#10;AI-generated content may be incorrect.">
            <a:extLst>
              <a:ext uri="{FF2B5EF4-FFF2-40B4-BE49-F238E27FC236}">
                <ns2:creationId id="{D6C15AD9-CCF7-5E54-7691-52E46C42C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333" y="1794076"/>
            <a:ext cx="4038896" cy="31140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ns4:creationId val="2189056872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Problem Statement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5" name="ContentBox3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• Trip planning is fragmented across separate food, travel, and budgeting tools.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Generic suggestions often ignore user preferences, dietary restrictions, and group size.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Manual planning increases time, confusion, and the risk of overspending.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Users need a single smart system that recommends options and monitors expenses together.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4:creationId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Project Overview - Introduction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5" name="ContentBox4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• ExpenseMate AI is a Python-based recommendation platform for restaurants, destinations, and budgets.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It loads structured CSV datasets and converts user preferences into ranked recommendations.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The system combines food discovery, travel planning, and expense analysis in one workflow.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A demo app, Flask backend, and browser frontend make the project easy to present and extend.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4:creationId val="271917459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End User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5" name="ContentBox5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• Students and young travelers planning affordable trips.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Families, couples, and groups comparing destination and dining options.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Budget-conscious users who want spending alerts and category-wise tracking.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Users with cuisine preferences or dietary restrictions seeking better matches.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Developers and institutions using the project as a capstone or recommendation-system demo.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4:creationId val="3912515651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Wow Factor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5" name="ContentBox6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• One project solves three real problems: food choice, destination choice, and budget control.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Recommendations are explainable, so users can see why each option was selected.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Combo trip planning merges restaurant and destination suggestions into one package.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Budget logic adds spending summaries, percentage usage, and practical advice.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The project already includes a working API and interactive frontend for live demonstration.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4:creationId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Modelling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5" name="ContentBox7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1. Input: user profile captures cuisine, dietary, budget, travel, and group preferences.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2. Data layer loads 10,000 restaurants, 138 destinations, and 2,000 expense records.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3. Food and travel recommenders score each item using similarity rules and ratings.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4. Expense recommender computes spending summaries and budget recommendations.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5. Combo recommender merges outputs into a complete trip package with cost estimation.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6. Flask API sends results to the HTML frontend for user interaction.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4:creationId val="3778321862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Result / Outcomes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5" name="ContentBox8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• The system successfully loads a large local dataset and produces personalized recommendations.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Current support includes 20 cuisines, 10 travel categories, and 8 expense categories.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Users can explore food options, travel options, and budget allocations from one interface.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Budget tracking reports spent amount, remaining balance, daily average, and category breakdown.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The project is ready for demo, further research, and future real-world integration.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4:creationId val="251569358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ns2:creationId id="{68077044-2447-F20F-732E-F59B0876B1BE}"/>
              </a:ext>
            </a:extLst>
          </p:cNvPr>
          <p:cNvSpPr txBox="1"/>
          <p:nvPr/>
        </p:nvSpPr>
        <p:spPr>
          <a:xfrm>
            <a:off x="331183" y="927350"/>
            <a:ext cx="5904091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2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8" name="Group 7">
            <a:extLst>
              <a:ext uri="{FF2B5EF4-FFF2-40B4-BE49-F238E27FC236}">
                <ns2:creationId id="{EA06B000-237D-0FED-3FF0-5FE978FF8E88}"/>
              </a:ext>
            </a:extLst>
          </p:cNvPr>
          <p:cNvGrpSpPr/>
          <p:nvPr/>
        </p:nvGrpSpPr>
        <p:grpSpPr>
          <a:xfrm>
            <a:off x="6877050" y="1711251"/>
            <a:ext cx="5200650" cy="3743899"/>
            <a:chOff x="6226629" y="1485900"/>
            <a:chExt cx="5965371" cy="4294414"/>
          </a:xfrm>
        </p:grpSpPr>
        <p:pic>
          <p:nvPicPr>
            <p:cNvPr id="3" name="Picture 2" descr="A hand touching a magnifying glass over a clipboard&#10;&#10;AI-generated content may be incorrect.">
              <a:extLst>
                <a:ext uri="{FF2B5EF4-FFF2-40B4-BE49-F238E27FC236}">
                  <ns2:creationId id="{D2150545-F4E6-B1E8-2BA5-178321AE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ns4:useLocalDpi val="0"/>
                </a:ext>
              </a:extLst>
            </a:blip>
            <a:srcRect b="23183"/>
            <a:stretch/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ns2:creationId id="{23498800-1547-FF45-1083-10EDB6755288}"/>
                </a:ext>
              </a:extLst>
            </p:cNvPr>
            <p:cNvCxnSpPr/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ns2:creationId id="{6898C442-216F-0AFF-7F38-7D870EA0918B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1" name="TextBox 10">
              <a:extLst>
                <a:ext uri="{FF2B5EF4-FFF2-40B4-BE49-F238E27FC236}">
                  <ns2:creationId id="{4F386A49-2AFF-C581-4F70-D6CF61537C07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1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ns2:creationId id="{62C3D488-31F2-374D-B1E9-85C3F7A3279B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3" name="TextBox 12">
                <a:extLst>
                  <a:ext uri="{FF2B5EF4-FFF2-40B4-BE49-F238E27FC236}">
                    <ns2:creationId id="{1B95B5C3-B614-18BE-1656-AF0EE581E44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r>
                  <a:rPr lang="en-US" sz="1600" dirty="0" b="0">
                    <a:solidFill>
                      <a:srgbClr val="213163"/>
                    </a:solidFill>
                  </a:rPr>
                  <a:t>Project Summary</a:t>
                </a:r>
                <a:endParaRPr lang="en-US" sz="1600">
                  <a:solidFill>
                    <a:srgbClr val="213163"/>
                  </a:solidFill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ns2:creationId id="{5994F08D-DCBE-2424-B4B5-ADEDA76E75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ns2:creationId id="{A8BF57D1-795B-C082-EBF5-FAD686110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ContentBox9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• ExpenseMate AI demonstrates how recommendation logic can improve planning decisions.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The project is modular, explainable, and practical for real travel and dining use cases.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By combining recommendations with expense monitoring, it delivers more complete user support.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This capstone provides a strong base for smarter, data-driven personal assistant systems.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ns2:creationId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9385" y="1071342"/>
            <a:ext cx="6011863" cy="373062"/>
          </a:xfrm>
          <a:prstGeom prst="rect">
            <a:avLst/>
          </a:prstGeom>
        </p:spPr>
        <p:txBody>
          <a:bodyPr/>
          <a:lstStyle/>
          <a:p>
            <a:r>
              <a:rPr lang="en-US" sz="2200" dirty="0" b="1">
                <a:solidFill>
                  <a:srgbClr val="002060"/>
                </a:solidFill>
              </a:rPr>
              <a:t>Future Perspective</a:t>
            </a:r>
            <a:endParaRPr lang="en-US" sz="2200">
              <a:solidFill>
                <a:srgbClr val="002060"/>
              </a:solidFill>
            </a:endParaRPr>
          </a:p>
        </p:txBody>
      </p:sp>
      <p:sp>
        <p:nvSpPr>
          <p:cNvPr id="5" name="ContentBox10"/>
          <p:cNvSpPr txBox="1"/>
          <p:nvPr/>
        </p:nvSpPr>
        <p:spPr>
          <a:xfrm>
            <a:off x="700000" y="1550000"/>
            <a:ext cx="10800000" cy="4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800" dirty="0" b="0">
                <a:solidFill>
                  <a:srgbClr val="000000"/>
                </a:solidFill>
              </a:rPr>
              <a:t>• Integrate live APIs such as Google Places, maps, weather, and hotel/flight pricing.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Add machine learning for adaptive preference learning and collaborative filtering.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Support group recommendations, real-time currency conversion, and mobile access.</a:t>
            </a:r>
            <a:endParaRPr lang="en-US" sz="1800">
              <a:solidFill>
                <a:srgbClr val="000000"/>
              </a:solidFill>
            </a:endParaRPr>
          </a:p>
          <a:p>
            <a:r>
              <a:rPr lang="en-US" sz="1800" dirty="0" b="0">
                <a:solidFill>
                  <a:srgbClr val="000000"/>
                </a:solidFill>
              </a:rPr>
              <a:t>• Build richer analytics dashboards for spending trends and travel behavior insights.</a:t>
            </a:r>
            <a:endParaRPr lang="en-US" sz="180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ns4:creationId val="367294324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ns2:creationId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  <p:sp>
        <p:nvSpPr>
          <p:cNvPr id="9" name="ClosingBox"/>
          <p:cNvSpPr txBox="1"/>
          <p:nvPr/>
        </p:nvSpPr>
        <p:spPr>
          <a:xfrm>
            <a:off x="1300000" y="2500000"/>
            <a:ext cx="9000000" cy="12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200" dirty="0" b="0">
                <a:solidFill>
                  <a:srgbClr val="213163"/>
                </a:solidFill>
              </a:rPr>
              <a:t>Questions and Discussion</a:t>
            </a:r>
            <a:endParaRPr lang="en-US" sz="2200">
              <a:solidFill>
                <a:srgbClr val="213163"/>
              </a:solidFill>
            </a:endParaRPr>
          </a:p>
          <a:p>
            <a:r>
              <a:rPr lang="en-US" sz="2200" dirty="0" b="0">
                <a:solidFill>
                  <a:srgbClr val="213163"/>
                </a:solidFill>
              </a:rPr>
              <a:t>Smart Food, Travel &amp; Expense Recommendation System</a:t>
            </a:r>
            <a:endParaRPr lang="en-US" sz="2200">
              <a:solidFill>
                <a:srgbClr val="213163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</TotalTime>
  <Words>696</Words>
  <Application>Microsoft Office PowerPoint</Application>
  <PresentationFormat>Widescreen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Simple Light</vt:lpstr>
      <vt:lpstr>PowerPoint Presentation</vt:lpstr>
      <vt:lpstr>Project Objectives </vt:lpstr>
      <vt:lpstr>Problem Statement</vt:lpstr>
      <vt:lpstr>Project overview - Introduction</vt:lpstr>
      <vt:lpstr>End User</vt:lpstr>
      <vt:lpstr>Wow factor</vt:lpstr>
      <vt:lpstr>Modelling</vt:lpstr>
      <vt:lpstr>Result / Outcomes</vt:lpstr>
      <vt:lpstr>PowerPoint Presentation</vt:lpstr>
      <vt:lpstr>Future Perspective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sravan kumar</cp:lastModifiedBy>
  <cp:revision>65</cp:revision>
  <dcterms:created xsi:type="dcterms:W3CDTF">2024-06-24T09:04:39Z</dcterms:created>
  <dcterms:modified xsi:type="dcterms:W3CDTF">2026-02-19T08:01:44Z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